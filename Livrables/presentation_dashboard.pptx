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242" autoAdjust="0"/>
  </p:normalViewPr>
  <p:slideViewPr>
    <p:cSldViewPr snapToGrid="0" snapToObjects="1">
      <p:cViewPr>
        <p:scale>
          <a:sx n="75" d="100"/>
          <a:sy n="75" d="100"/>
        </p:scale>
        <p:origin x="946" y="-36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r>
              <a:rPr lang="fr-FR" sz="1300"/>
              <a:t>Répartition par niveau de qualité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bubble3D val="0"/>
            <c:spPr>
              <a:solidFill>
                <a:srgbClr val="2563EB"/>
              </a:solidFill>
            </c:spPr>
            <c:extLst>
              <c:ext xmlns:c16="http://schemas.microsoft.com/office/drawing/2014/chart" uri="{C3380CC4-5D6E-409C-BE32-E72D297353CC}">
                <c16:uniqueId val="{00000001-827F-491A-BC64-45B4B1574894}"/>
              </c:ext>
            </c:extLst>
          </c:dPt>
          <c:dPt>
            <c:idx val="1"/>
            <c:bubble3D val="0"/>
            <c:spPr>
              <a:solidFill>
                <a:srgbClr val="16A34A"/>
              </a:solidFill>
            </c:spPr>
            <c:extLst>
              <c:ext xmlns:c16="http://schemas.microsoft.com/office/drawing/2014/chart" uri="{C3380CC4-5D6E-409C-BE32-E72D297353CC}">
                <c16:uniqueId val="{00000003-827F-491A-BC64-45B4B1574894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827F-491A-BC64-45B4B157489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Correct</c:v>
                </c:pt>
                <c:pt idx="1">
                  <c:v>Excellent</c:v>
                </c:pt>
                <c:pt idx="2">
                  <c:v>À corriger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6421</c:v>
                </c:pt>
                <c:pt idx="1">
                  <c:v>1103</c:v>
                </c:pt>
                <c:pt idx="2">
                  <c:v>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7F-491A-BC64-45B4B157489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200"/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300"/>
              <a:t>Score qualité moyen par source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moyen</c:v>
                </c:pt>
              </c:strCache>
            </c:strRef>
          </c:tx>
          <c:spPr>
            <a:solidFill>
              <a:srgbClr val="4F46E5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Direct Mail</c:v>
                </c:pt>
                <c:pt idx="1">
                  <c:v>Outbound Cold</c:v>
                </c:pt>
                <c:pt idx="2">
                  <c:v>Event</c:v>
                </c:pt>
                <c:pt idx="3">
                  <c:v>Inbound Webinar</c:v>
                </c:pt>
                <c:pt idx="4">
                  <c:v>Product Led</c:v>
                </c:pt>
                <c:pt idx="5">
                  <c:v>Partner Referral</c:v>
                </c:pt>
                <c:pt idx="6">
                  <c:v>Organic Search</c:v>
                </c:pt>
                <c:pt idx="7">
                  <c:v>Webinar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73.099999999999994</c:v>
                </c:pt>
                <c:pt idx="1">
                  <c:v>73.3</c:v>
                </c:pt>
                <c:pt idx="2">
                  <c:v>75.900000000000006</c:v>
                </c:pt>
                <c:pt idx="3">
                  <c:v>76.099999999999994</c:v>
                </c:pt>
                <c:pt idx="4">
                  <c:v>76.2</c:v>
                </c:pt>
                <c:pt idx="5">
                  <c:v>76.8</c:v>
                </c:pt>
                <c:pt idx="6">
                  <c:v>77.5</c:v>
                </c:pt>
                <c:pt idx="7">
                  <c:v>77.8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2E-4DD8-AF68-BA74D36385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7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300"/>
              <a:t>Anomalies par type (nb de leads)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</c:v>
                </c:pt>
              </c:strCache>
            </c:strRef>
          </c:tx>
          <c:spPr>
            <a:solidFill>
              <a:srgbClr val="F59E0B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Source manquante</c:v>
                </c:pt>
                <c:pt idx="1">
                  <c:v>Campagne non associée</c:v>
                </c:pt>
                <c:pt idx="2">
                  <c:v>Email invalide/manquant</c:v>
                </c:pt>
                <c:pt idx="3">
                  <c:v>Doublon probable nom+entreprise</c:v>
                </c:pt>
                <c:pt idx="4">
                  <c:v>Téléphone invalide/manquant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236</c:v>
                </c:pt>
                <c:pt idx="2">
                  <c:v>497</c:v>
                </c:pt>
                <c:pt idx="3">
                  <c:v>3671</c:v>
                </c:pt>
                <c:pt idx="4">
                  <c:v>6866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FE7-43FE-8153-6B9593F1E0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0B3FF-F154-4CA1-BC0A-EA65A328C3B4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686E8-A0EF-4EFB-8E41-6AD9C45E7D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91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 à toutes et à tous. Je vais vous présenter mon projet de data visualisation, intitulé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 Data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Campaign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L'idée de départ tient en une question simple, mais que beaucoup d'équipes marketing se posent rarement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est-ce qu'on peut vraiment faire confiance aux données de notre CRM pour lancer nos campagnes ?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C'est à cette question que mon tableau de bord répond.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634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me place dans un domaine très concret : le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Go-To-Market en B2B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c'est-à-dire les équipes marketing et commerciales qui génèrent et traitent des prospects — ce qu'on appelle des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problème, c'est qu'un CRM dégradé coûte cher, et souvent sans qu'on s'en rende compte. Des emails invalides, et la campagne d'emailing rebondit. Des téléphones manquants, et les commerciaux n'arrivent pas à joindre les prospects. Des sources mal renseignées, et on devient incapable de savoir quelles campagnes fonctionnent. Et au final, on prend des décisions sur des données fausses ou en double.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L'élément que j'ai choisi de surveiller, c'est donc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fiabilité et l'exploitabilité de la base de leads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Et toute ma démarche tourne autour de cette question, affichée à droite :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CRM est-il assez fiable pour piloter les campagnes, et où faut-il corriger en priorité ?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153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répondre, j'ai défini six indicateurs clés, que vous retrouverez en haut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D'abord le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8 000 leads analysés. Ensuite un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 de qualité moyen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sur 100, qui est à 75 — j'expliquerai comment il est construit. Le troisième est le plus parlant pour le métier : le pourcentage de leads 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campaign-ready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c'est-à-dire réellement exploitables — on est à près de 94 %. Viennent ensuite le taux d'emails valides, le taux de téléphones valides, et enfin le nombre d'anomalies à corriger : un peu plus de 11 000.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L'intérêt de ces KPI, c'est qu'ils traduisent un diagnostic technique en une information de pilotage : combien de la base est utilisable, et qu'est-ce qui bloque.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603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 données, je m'appuie sur un jeu de données relationnel issu d'une plateforme GTM open source. Quatre tables : les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8 000 lignes, c'est ma table principale ; les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contacts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3 000 lignes, rattachés aux comptes ; les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campagnes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; et les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activités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environ 25 000 interactions comme des ouvertures d'email ou des participations à un webinaire.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ici, je veux insister sur un point — l'encadré jaune à droite — parce que c'est ce qui m'a demandé le plus de réflexion. Les leads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 contiennent ni identifiant de contact, ni numéro de téléphone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seul lien fiable vers la table des contacts passe par le compte, via le champ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converted_account_id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Concrètement, ça veut dire que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téléphone n'apparaît qu'une fois le lead converti en compte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Ce n'est pas un défaut de mes données : c'est tout simplement le reflet du cycle de vente. Et c'est pour ça que mon taux de téléphone est bas globalement, mais bien plus élevé chez les leads convertis.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963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 démarche s'est faite en quatre étapes.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D'abord un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regarde l'état initial — volumétrie, valeurs manquantes, doublons, types de données. Ensuite le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nettoyage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normalise les emails, je remets les téléphones au format international E.164, je parse les dates, je crée des clés propres pour comparer. Troisième étape, je construis une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analytique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unique, en joignant les leads, les contacts, les campagnes et les activités. Et enfin le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je calcule un score de qualité sur 100, un statut 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campaign-ready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je génère un journal de toutes les anomalies.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message, c'est que la donnée brute n'est pas juste affichée : elle est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auditée puis transformée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798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Voici le cœur de la méthode : mon score de qualité sur 100.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critère rapporte des points. Un email valide, c'est 25 points — c'est le plus important, parce que sans email, pas de campagne. Un téléphone valide, 15 points. Puis une série de critères à 10 points : un contact exploitable, une source renseignée, une entreprise connue, une campagne ou une activité associée, une date cohérente, et l'absence de doublon.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score se traduit ensuite en quatre niveaux, à droite : Excellent au-dessus de 80, Correct au-dessus de 60, À corriger, et Critique. Et un lead est déclaré 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campaign-ready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s'il a un email valide, pas de doublon, une source, et un score d'au moins 60. L'avantage, c'est qu'on passe d'une multitude d'indicateurs techniques à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seul chiffre lisible par tout le monde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436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Rapidement, la stack technique. Côté analyse, tout est en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avec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pandas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et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le nettoyage et les calculs, et la librairie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phonenumbers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valider les téléphones au format international.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 visualisation,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construit avec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l'application web et 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les graphiques interactifs ; l'analyse, elle, vit dans un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notebook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ce qui rend tout le pipeline reproductible. J'avais aussi envisagé Tableau Public, que je mentionne en alternative. »</a:t>
            </a:r>
          </a:p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[Transition]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« Passons maintenant au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lui-même.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948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organisé en quatre vues. La première, c'est la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 Direction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la réponse en un coup d'œil.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graphique en anneau montre la répartition des leads par niveau de qualité : la grande majorité est en « Correct », avec une part en « Excellent », et une minorité « À corriger ».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le message clé, à droite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près de 94 % des leads sont exploitables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une campagne, avec un score moyen de 75 sur 100. On 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zéro lead critique et zéro doublon exact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la base est saine sur l'essentiel. C'est une bonne nouvelle pour la direction — mais ça ne veut pas dire qu'il n'y a rien à faire.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229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deuxième vue répond à une question d'investissement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quelles sources nous amènent les leads les plus fiables ?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 ce graphique, je classe les sources par score de qualité moyen. On voit en haut les sources les plus solides — le référencement naturel, les webinaires, les recommandations de partenaires. Et en bas, les plus fragiles, comme le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 mail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 l'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outbound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à froid.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Concrètement, ça outille trois décisions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renforcer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les budgets sur les sources fiables,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corriger les formulaires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 sources faibles pour récupérer de meilleures données, et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surveiller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celles qui font du volume mais avec une qualité moyenne.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85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troisième vue, c'est la plus opérationnelle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faut-il corriger en priorité ?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classe les anomalies par type. Et le constat est clair : la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priorité numéro un, c'est le téléphone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avec près de 6 900 cas à enrichir. Viennent ensuite les doublons probables à vérifier, puis environ 500 emails invalides à corriger avant tout emailing.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l'élément que je trouve le plus utile : cette liste est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filtrable et exportable en CSV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directement depuis 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Autrement dit, l'équipe data récupère une véritable 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to-do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priorisée, prête à être traitée.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817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je résume en quatre décisions actionnables : sur l'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réinvestit sur les bonnes sources et on revoit les formulaires des mauvaises. Sur l'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enrichissement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lance une campagne pour récupérer les téléphones manquants. Sur la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délivrabilité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nettoie les emails invalides avant d'envoyer quoi que ce soit. Et sur l'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hygiène du CRM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traite les doublons probables.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L'objectif du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c'est vraiment ça : produire des décisions, pas seulement des chiffres.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28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mot sur la rigueur de l'analyse, parce que je tiens à être honnête.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construisant le projet, j'ai identifié et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corrigé trois bugs dans mon pipeline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qui faussaient complètement les résultats : un calcul qui marquait 100 % des leads comme doublons, un téléphone valide à 0 %, et une jointure de campagnes vide. Les corriger a été essentiel pour que les KPI veuillent dire quelque chose.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j'assume aussi les limites : les données sont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synthétiques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donc avec peu d'entreprises différentes et pas de vrais doublons exacts ; l'enrichissement téléphone se limite aux comptes convertis ; et le « doublon probable » par nom et entreprise reste un signal indicatif, à revoir manuellement.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488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conclure, la réponse à ma question de départ :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oui, le CRM est globalement fiable, à 75 sur 100 — mais le téléphone est clairement le chantier prioritaire.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final, je livre trois choses : un outil de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surveillance continue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la qualité de la base, une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to-do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priorisée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l'équipe data, et des 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décisions outillées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sur l'acquisition et l'hygiène du CRM.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vous remercie de votre attention, et je suis à votre disposition pour vos questions. 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686E8-A0EF-4EFB-8E41-6AD9C45E7DD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27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dirty="0">
                <a:solidFill>
                  <a:srgbClr val="C7D2FE"/>
                </a:solidFill>
                <a:latin typeface="Calibri"/>
              </a:rPr>
              <a:t>PROJET DE VALIDATION  ·  DATA VISUALISATION 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CRM Data Quality &amp;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Campaign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7D2FE"/>
                </a:solidFill>
                <a:latin typeface="Calibri"/>
              </a:rPr>
              <a:t>Surveiller la fiabilité du CRM pour fiabiliser les campagnes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37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>
                <a:solidFill>
                  <a:srgbClr val="A5B4FC"/>
                </a:solidFill>
                <a:latin typeface="Calibri"/>
              </a:rPr>
              <a:t>Dashboard </a:t>
            </a:r>
            <a:r>
              <a:rPr sz="1300" b="0" dirty="0" err="1">
                <a:solidFill>
                  <a:srgbClr val="A5B4FC"/>
                </a:solidFill>
                <a:latin typeface="Calibri"/>
              </a:rPr>
              <a:t>Streamlit</a:t>
            </a:r>
            <a:r>
              <a:rPr sz="1300" b="0" dirty="0">
                <a:solidFill>
                  <a:srgbClr val="A5B4FC"/>
                </a:solidFill>
                <a:latin typeface="Calibri"/>
              </a:rPr>
              <a:t> + Plotly  ·  </a:t>
            </a:r>
            <a:r>
              <a:rPr sz="1300" b="0" dirty="0" err="1">
                <a:solidFill>
                  <a:srgbClr val="A5B4FC"/>
                </a:solidFill>
                <a:latin typeface="Calibri"/>
              </a:rPr>
              <a:t>Analyse</a:t>
            </a:r>
            <a:r>
              <a:rPr sz="1300" b="0" dirty="0">
                <a:solidFill>
                  <a:srgbClr val="A5B4FC"/>
                </a:solidFill>
                <a:latin typeface="Calibri"/>
              </a:rPr>
              <a:t> Python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fr-FR" sz="1300" dirty="0">
                <a:solidFill>
                  <a:srgbClr val="A5B4FC"/>
                </a:solidFill>
                <a:latin typeface="Calibri"/>
              </a:rPr>
              <a:t>HAOUARI Salem</a:t>
            </a:r>
            <a:r>
              <a:rPr sz="1300" b="0" dirty="0">
                <a:solidFill>
                  <a:srgbClr val="A5B4FC"/>
                </a:solidFill>
                <a:latin typeface="Calibri"/>
              </a:rPr>
              <a:t>—  </a:t>
            </a:r>
            <a:r>
              <a:rPr lang="fr-FR" sz="1300" b="0" dirty="0">
                <a:solidFill>
                  <a:srgbClr val="A5B4FC"/>
                </a:solidFill>
                <a:latin typeface="Calibri"/>
              </a:rPr>
              <a:t>09</a:t>
            </a:r>
            <a:r>
              <a:rPr sz="1300" b="0" dirty="0">
                <a:solidFill>
                  <a:srgbClr val="A5B4FC"/>
                </a:solidFill>
                <a:latin typeface="Calibri"/>
              </a:rPr>
              <a:t>/0</a:t>
            </a:r>
            <a:r>
              <a:rPr lang="fr-FR" sz="1300" b="0" dirty="0">
                <a:solidFill>
                  <a:srgbClr val="A5B4FC"/>
                </a:solidFill>
                <a:latin typeface="Calibri"/>
              </a:rPr>
              <a:t>6</a:t>
            </a:r>
            <a:endParaRPr sz="1300" b="0" dirty="0">
              <a:solidFill>
                <a:srgbClr val="A5B4F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Pourquoi surveiller la qualité du CRM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Domaine : Go-To-Market B2B (Marketing &amp; Sales Operations).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6583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Un CRM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dégradé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coûte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cher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    Emails qui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rebondissent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, prospects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injoignables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, budget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gaspillé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Attribution marketing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faussée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    Impossible de savoir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quelles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sources/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campagnes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performent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Décisions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commerciales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fragiles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    On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pilote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sur des données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incomplètes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ou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double.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Élément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à </a:t>
            </a:r>
            <a:r>
              <a:rPr sz="1500" b="1" dirty="0" err="1">
                <a:solidFill>
                  <a:srgbClr val="0F172A"/>
                </a:solidFill>
                <a:latin typeface="Calibri"/>
              </a:rPr>
              <a:t>surveiller</a:t>
            </a:r>
            <a:r>
              <a:rPr sz="1500" b="1" dirty="0">
                <a:solidFill>
                  <a:srgbClr val="0F172A"/>
                </a:solidFill>
                <a:latin typeface="Calibri"/>
              </a:rPr>
              <a:t> :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    la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fiabilité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et </a:t>
            </a:r>
            <a:r>
              <a:rPr sz="1300" b="0" dirty="0" err="1">
                <a:solidFill>
                  <a:srgbClr val="64748B"/>
                </a:solidFill>
                <a:latin typeface="Calibri"/>
              </a:rPr>
              <a:t>l'exploitabilité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 de la base leads.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54480"/>
            <a:ext cx="4297680" cy="29260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1828800"/>
            <a:ext cx="3749039" cy="1483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dirty="0">
                <a:solidFill>
                  <a:srgbClr val="4F46E5"/>
                </a:solidFill>
                <a:latin typeface="Calibri"/>
              </a:rPr>
              <a:t>La question métier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300" b="1" dirty="0">
              <a:solidFill>
                <a:srgbClr val="4F46E5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700" b="1" dirty="0">
                <a:solidFill>
                  <a:srgbClr val="0F172A"/>
                </a:solidFill>
                <a:latin typeface="Calibri"/>
              </a:rPr>
              <a:t>« Le CRM est-il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assez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fiable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pour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piloter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les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campagnes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, et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où</a:t>
            </a:r>
            <a:r>
              <a:rPr lang="fr-FR" sz="1700" b="1" dirty="0">
                <a:solidFill>
                  <a:srgbClr val="0F172A"/>
                </a:solidFill>
              </a:rPr>
              <a:t> faut-il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corriger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en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172A"/>
                </a:solidFill>
                <a:latin typeface="Calibri"/>
              </a:rPr>
              <a:t>priorité</a:t>
            </a:r>
            <a:r>
              <a:rPr sz="1700" b="1" dirty="0">
                <a:solidFill>
                  <a:srgbClr val="0F172A"/>
                </a:solidFill>
                <a:latin typeface="Calibri"/>
              </a:rPr>
              <a:t> ? »</a:t>
            </a:r>
            <a:r>
              <a:rPr lang="fr-FR" sz="1700" b="1" dirty="0">
                <a:solidFill>
                  <a:srgbClr val="0F172A"/>
                </a:solidFill>
                <a:latin typeface="Calibri"/>
              </a:rPr>
              <a:t> </a:t>
            </a:r>
            <a:endParaRPr sz="1700" b="1" dirty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INDICATEURS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Les KPI suivis dans le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1417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52704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8 000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23936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Leads analysés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52704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75,3/100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3936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Score qualité moyen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52704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93,7 %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23936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Leads campaign-ready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5468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15468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26440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93,8 %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97672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Emails valides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5468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15468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26440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14,2 %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97672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Tél. valides (73,5 % si converti)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154680"/>
            <a:ext cx="3611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315468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9912" y="3264408"/>
            <a:ext cx="3383280" cy="779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11 280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3976725"/>
            <a:ext cx="3383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Anomalies à corriger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Chaque KPI traduit un diagnostic technique en information de pilotage : combien de la base est exploitable, et qu'est-ce qui bloque.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4 tables relationnelles · 8 000 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667512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1732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Rôle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28800"/>
            <a:ext cx="66751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82880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leads.csv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8 000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28800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Table principale (prospects)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7744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37744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contacts.csv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37744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3 000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77440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Contacts par compte — porteurs du téléphone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66751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campaigns.csv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92608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~200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926080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Référentiel des campagnes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7472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47472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lead_activities.csv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4747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~25 000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474720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Interactions (open, clic, webinaire…)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554480"/>
            <a:ext cx="4251960" cy="3657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1828800"/>
            <a:ext cx="3749039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dirty="0">
                <a:solidFill>
                  <a:srgbClr val="B45309"/>
                </a:solidFill>
                <a:latin typeface="Calibri"/>
              </a:rPr>
              <a:t>⚠ Le point </a:t>
            </a:r>
            <a:r>
              <a:rPr sz="1300" b="1" dirty="0" err="1">
                <a:solidFill>
                  <a:srgbClr val="B45309"/>
                </a:solidFill>
                <a:latin typeface="Calibri"/>
              </a:rPr>
              <a:t>subtil</a:t>
            </a:r>
            <a:endParaRPr sz="1300" b="1" dirty="0">
              <a:solidFill>
                <a:srgbClr val="B45309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1300" b="1" dirty="0">
              <a:solidFill>
                <a:srgbClr val="B45309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Les leads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n'ont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ni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contact_id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ni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téléphone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Le seul lien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fiable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est 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dirty="0" err="1">
                <a:solidFill>
                  <a:srgbClr val="4F46E5"/>
                </a:solidFill>
                <a:latin typeface="Calibri"/>
              </a:rPr>
              <a:t>converted_account_id</a:t>
            </a:r>
            <a:r>
              <a:rPr sz="1200" b="1" dirty="0">
                <a:solidFill>
                  <a:srgbClr val="4F46E5"/>
                </a:solidFill>
                <a:latin typeface="Calibri"/>
              </a:rPr>
              <a:t> → </a:t>
            </a:r>
            <a:r>
              <a:rPr sz="1200" b="1" dirty="0" err="1">
                <a:solidFill>
                  <a:srgbClr val="4F46E5"/>
                </a:solidFill>
                <a:latin typeface="Calibri"/>
              </a:rPr>
              <a:t>contacts.account_id</a:t>
            </a:r>
            <a:endParaRPr sz="1200" b="1" dirty="0">
              <a:solidFill>
                <a:srgbClr val="4F46E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1200" b="1" dirty="0">
              <a:solidFill>
                <a:srgbClr val="4F46E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dirty="0">
                <a:solidFill>
                  <a:srgbClr val="0F172A"/>
                </a:solidFill>
                <a:latin typeface="Calibri"/>
              </a:rPr>
              <a:t>→ Le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téléphone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n'existe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qu'après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conversion. Ce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n'est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pas un bug, </a:t>
            </a:r>
            <a:r>
              <a:rPr sz="1200" b="0" dirty="0" err="1">
                <a:solidFill>
                  <a:srgbClr val="0F172A"/>
                </a:solidFill>
                <a:latin typeface="Calibri"/>
              </a:rPr>
              <a:t>c'est</a:t>
            </a:r>
            <a:r>
              <a:rPr sz="1200" b="0" dirty="0">
                <a:solidFill>
                  <a:srgbClr val="0F172A"/>
                </a:solidFill>
                <a:latin typeface="Calibri"/>
              </a:rPr>
              <a:t> le cycle de vente.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De la donnée brute au score de qualité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974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697480" cy="822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Profilage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8328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Volumétrie, valeurs manquantes, doublons,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92608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828800"/>
            <a:ext cx="26974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64992" y="1828800"/>
            <a:ext cx="2697480" cy="8229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4992" y="1874519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Nettoyage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38328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Emails, téléphones E.164, dates, clés normalisées.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92608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828800"/>
            <a:ext cx="26974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27064" y="1828800"/>
            <a:ext cx="2697480" cy="8229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27064" y="1874519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Table analytique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38328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Jointures leads + contacts + campagnes + activités.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292608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1828800"/>
            <a:ext cx="26974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89136" y="1828800"/>
            <a:ext cx="269748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89136" y="1874519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278892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Scoring &amp; anomalies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383280"/>
            <a:ext cx="23682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Score /100, campaign-ready, journal des problèmes.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La donnée brute est auditée puis transformée — pas seulement tracée.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Le score qualité CRM (sur 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Email valide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63040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38528"/>
            <a:ext cx="59436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Téléphone valide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38528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14016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14016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Contact exploitable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414016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89504"/>
            <a:ext cx="59436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889504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Source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89504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64992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364992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Entreprise renseignée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59436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Campagne ou activité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840480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15968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315968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Date valide / non 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315968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91456"/>
            <a:ext cx="59436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791456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Pas de doublon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791456"/>
            <a:ext cx="10058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+10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Niveaux de qualité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196596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0" y="1965960"/>
            <a:ext cx="109728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0" y="19659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Excellent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196596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≥ 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606039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0" y="2606039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2606039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Correct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606039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≥ 60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24612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58000" y="3246120"/>
            <a:ext cx="109728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24612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À corriger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32461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≥ 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3886200"/>
            <a:ext cx="4846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858000" y="3886200"/>
            <a:ext cx="109728" cy="548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0" y="38862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Critique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8862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&lt; 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7548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campaign-ready = email valide ET non-doublon ET source renseignée ET score ≥ 60.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Les technologies utilisées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864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Analyse de 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Python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Langage principal de l'analyse.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pandas + NumPy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Nettoyage, jointures, agrégations,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1480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phonenumbers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Validation &amp; format international E.164.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371600"/>
            <a:ext cx="54864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37160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Visualisation &amp;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01168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2011680"/>
            <a:ext cx="9144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201168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Streamlit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Application web du dashboard (4 vues, filtres).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06324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3063240"/>
            <a:ext cx="9144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306324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Plotly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Graphiques interactifs (donut, barres, heatmap…).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11480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59" y="4114800"/>
            <a:ext cx="9144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79" y="411480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Jupyter Notebook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EDA, pipeline d'audit et exports reproductibles.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Outils complémentaires : Git/CSV pour des exports reproductibles · Tableau Public envisagé en alternative au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Vue Direction : la base est-elle fiable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3716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46304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Lecture en un coup d'œil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303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400" b="1">
                <a:solidFill>
                  <a:srgbClr val="0F172A"/>
                </a:solidFill>
                <a:latin typeface="Calibri"/>
              </a:rPr>
              <a:t>93,7 % des leads sont exploitables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    pour une campagne marketing.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400" b="1">
                <a:solidFill>
                  <a:srgbClr val="0F172A"/>
                </a:solidFill>
                <a:latin typeface="Calibri"/>
              </a:rPr>
              <a:t>Score moyen 75/100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    soit un niveau « Correct » global.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400" b="1">
                <a:solidFill>
                  <a:srgbClr val="0F172A"/>
                </a:solidFill>
                <a:latin typeface="Calibri"/>
              </a:rPr>
              <a:t>0 lead critique, 0 doublon exact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    la base est saine sur l'essentiel.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400" b="1">
                <a:solidFill>
                  <a:srgbClr val="0F172A"/>
                </a:solidFill>
                <a:latin typeface="Calibri"/>
              </a:rPr>
              <a:t>4 vues interactives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    Direction · Sources · Campagnes · Actions correctives.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Quelles sources produisent les leads les plus fiables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37160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Décisions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Renforcer les sources fiables (organic, webinaire, referral).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Corriger les formulaires des sources faibles (direct mail, outbound).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Surveiller les sources à fort volume mais qualité moyenne.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Que faut-il corriger en priorité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37160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737360"/>
            <a:ext cx="3657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>
                <a:solidFill>
                  <a:srgbClr val="0F172A"/>
                </a:solidFill>
                <a:latin typeface="Calibri"/>
              </a:rPr>
              <a:t>Priorité n°1 : le téléphone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    campagne d'enrichissement au format E.164.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>
                <a:solidFill>
                  <a:srgbClr val="0F172A"/>
                </a:solidFill>
                <a:latin typeface="Calibri"/>
              </a:rPr>
              <a:t>497 emails à corriger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    avant tout emailing.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>
                <a:solidFill>
                  <a:srgbClr val="0F172A"/>
                </a:solidFill>
                <a:latin typeface="Calibri"/>
              </a:rPr>
              <a:t>Liste exportable en CSV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    la to-do list de l'équipe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Des décisions, pas seulement des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109728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2743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Investir sur les sources fiables, revoir les formulaires des sources faibles.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11201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109728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2743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Enrichissement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Lancer une campagne d'enrichissement téléphone (E.164) sur les comptes clés.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11201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2743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Délivrabilité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4048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Nettoyer les 497 emails invalides avant toute campagne d'emailing.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80"/>
            <a:ext cx="11201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98348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27432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Hygiène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983480"/>
            <a:ext cx="7863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Revue manuelle des doublons probables nom + entreprise.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ESPRIT 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Rigueur de l'analyse &amp; limites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CRM Data Quality &amp; Campaign Readiness  ·  Projet Data Visualisation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3 bugs de pipeline corrigés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577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Doublons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à 100 % →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corrigé</a:t>
            </a:r>
            <a:endParaRPr sz="1300" b="1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dirty="0">
                <a:solidFill>
                  <a:srgbClr val="64748B"/>
                </a:solidFill>
                <a:latin typeface="Calibri"/>
              </a:rPr>
              <a:t>    le nom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d'entreprise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 seul ne fait pas un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doublon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Téléphone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à 0 % →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corrigé</a:t>
            </a:r>
            <a:endParaRPr sz="1300" b="1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dirty="0">
                <a:solidFill>
                  <a:srgbClr val="64748B"/>
                </a:solidFill>
                <a:latin typeface="Calibri"/>
              </a:rPr>
              <a:t>   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enrichissement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 via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account_id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 (post-conversion).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 dirty="0">
                <a:solidFill>
                  <a:srgbClr val="4F46E5"/>
                </a:solidFill>
                <a:latin typeface="Calibri"/>
              </a:rPr>
              <a:t>•  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Jointure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campagnes</a:t>
            </a:r>
            <a:r>
              <a:rPr sz="1300" b="1" dirty="0">
                <a:solidFill>
                  <a:srgbClr val="0F172A"/>
                </a:solidFill>
                <a:latin typeface="Calibri"/>
              </a:rPr>
              <a:t> vide → </a:t>
            </a:r>
            <a:r>
              <a:rPr sz="1300" b="1" dirty="0" err="1">
                <a:solidFill>
                  <a:srgbClr val="0F172A"/>
                </a:solidFill>
                <a:latin typeface="Calibri"/>
              </a:rPr>
              <a:t>corrigée</a:t>
            </a:r>
            <a:endParaRPr sz="1300" b="1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00" b="0" dirty="0">
                <a:solidFill>
                  <a:srgbClr val="64748B"/>
                </a:solidFill>
                <a:latin typeface="Calibri"/>
              </a:rPr>
              <a:t>   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normalisation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 des </a:t>
            </a:r>
            <a:r>
              <a:rPr sz="1100" b="0" dirty="0" err="1">
                <a:solidFill>
                  <a:srgbClr val="64748B"/>
                </a:solidFill>
                <a:latin typeface="Calibri"/>
              </a:rPr>
              <a:t>identifiants</a:t>
            </a:r>
            <a:r>
              <a:rPr sz="1100" b="0" dirty="0">
                <a:solidFill>
                  <a:srgbClr val="64748B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Limites assumées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303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Données synthétiques : peu d'entreprises, pas de vrais doublons exacts.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Téléphone limité aux comptes convertis présents dans contacts.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0F172A"/>
                </a:solidFill>
                <a:latin typeface="Calibri"/>
              </a:rPr>
              <a:t>Le « doublon probable » nom+entreprise = signal indicatif à revoir manuellement.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7D2FE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Le CRM est globalement fiable (75/100),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mais le téléphone est le chantier prioritaire.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A5B4FC"/>
                </a:solidFill>
                <a:latin typeface="Calibri"/>
              </a:rPr>
              <a:t>•  </a:t>
            </a:r>
            <a:r>
              <a:rPr sz="1600" b="0">
                <a:solidFill>
                  <a:srgbClr val="E0E7FF"/>
                </a:solidFill>
                <a:latin typeface="Calibri"/>
              </a:rPr>
              <a:t>Un outil de surveillance continue de la qualité de la base.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A5B4FC"/>
                </a:solidFill>
                <a:latin typeface="Calibri"/>
              </a:rPr>
              <a:t>•  </a:t>
            </a:r>
            <a:r>
              <a:rPr sz="1600" b="0">
                <a:solidFill>
                  <a:srgbClr val="E0E7FF"/>
                </a:solidFill>
                <a:latin typeface="Calibri"/>
              </a:rPr>
              <a:t>Une to-do list priorisée et exportable pour l'équipe data.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600" b="1">
                <a:solidFill>
                  <a:srgbClr val="A5B4FC"/>
                </a:solidFill>
                <a:latin typeface="Calibri"/>
              </a:rPr>
              <a:t>•  </a:t>
            </a:r>
            <a:r>
              <a:rPr sz="1600" b="0">
                <a:solidFill>
                  <a:srgbClr val="E0E7FF"/>
                </a:solidFill>
                <a:latin typeface="Calibri"/>
              </a:rPr>
              <a:t>Des décisions outillées sur l'acquisition et l'hygiène CRM.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2658</Words>
  <Application>Microsoft Office PowerPoint</Application>
  <PresentationFormat>Grand écran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HAOUARI Salem</cp:lastModifiedBy>
  <cp:revision>9</cp:revision>
  <dcterms:created xsi:type="dcterms:W3CDTF">2013-01-27T09:14:16Z</dcterms:created>
  <dcterms:modified xsi:type="dcterms:W3CDTF">2026-06-09T13:06:27Z</dcterms:modified>
  <cp:category/>
</cp:coreProperties>
</file>